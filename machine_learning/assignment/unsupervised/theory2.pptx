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843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542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007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221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066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492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169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303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545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265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693094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9397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80318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449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5567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493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192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073244"/>
            <a:ext cx="6600451" cy="2073511"/>
          </a:xfrm>
        </p:spPr>
        <p:txBody>
          <a:bodyPr>
            <a:normAutofit/>
          </a:bodyPr>
          <a:lstStyle/>
          <a:p>
            <a:pPr algn="ctr"/>
            <a:r>
              <a:rPr sz="4000" dirty="0"/>
              <a:t>Model Evaluation Techniques in Unsupervised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413588"/>
            <a:ext cx="6600451" cy="650026"/>
          </a:xfrm>
        </p:spPr>
        <p:txBody>
          <a:bodyPr/>
          <a:lstStyle/>
          <a:p>
            <a:pPr algn="ctr"/>
            <a:r>
              <a:rPr dirty="0"/>
              <a:t>Detailed Presentation with Graphical Understanding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 to Unsupervised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25803"/>
            <a:ext cx="6591985" cy="3777622"/>
          </a:xfrm>
        </p:spPr>
        <p:txBody>
          <a:bodyPr>
            <a:normAutofit/>
          </a:bodyPr>
          <a:lstStyle/>
          <a:p>
            <a:r>
              <a:rPr sz="2000" dirty="0"/>
              <a:t> No labeled target variable</a:t>
            </a:r>
          </a:p>
          <a:p>
            <a:pPr lvl="1"/>
            <a:r>
              <a:rPr sz="2000" dirty="0"/>
              <a:t> Finds hidden patterns or structure in data</a:t>
            </a:r>
          </a:p>
          <a:p>
            <a:pPr lvl="1"/>
            <a:r>
              <a:rPr sz="2000" dirty="0"/>
              <a:t> Common tasks: Clustering &amp; Dimensionality Reduction</a:t>
            </a:r>
          </a:p>
          <a:p>
            <a:pPr lvl="1"/>
            <a:r>
              <a:rPr sz="2000" dirty="0"/>
              <a:t> Evaluation is challenging due to absence of ground truth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Model Evaluation is Important?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 Determines quality of clusters or embeddings</a:t>
            </a:r>
          </a:p>
          <a:p>
            <a:pPr lvl="1"/>
            <a:r>
              <a:rPr sz="2000" dirty="0"/>
              <a:t> Helps compare multiple models</a:t>
            </a:r>
          </a:p>
          <a:p>
            <a:pPr lvl="1"/>
            <a:r>
              <a:rPr sz="2000" dirty="0"/>
              <a:t> Assists in selecting optimal parameters (like K)</a:t>
            </a:r>
          </a:p>
          <a:p>
            <a:pPr lvl="1"/>
            <a:r>
              <a:rPr sz="2000" dirty="0"/>
              <a:t> Ensures meaningful pattern extraction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Evaluation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1. Internal Evaluation Metrics</a:t>
            </a:r>
          </a:p>
          <a:p>
            <a:pPr lvl="1"/>
            <a:r>
              <a:rPr sz="2000" dirty="0"/>
              <a:t>2. External Evaluation Metrics</a:t>
            </a:r>
          </a:p>
          <a:p>
            <a:pPr lvl="1"/>
            <a:r>
              <a:rPr sz="2000" dirty="0"/>
              <a:t>3. Relative Evaluation</a:t>
            </a:r>
          </a:p>
          <a:p>
            <a:pPr lvl="1"/>
            <a:r>
              <a:rPr sz="2000" dirty="0"/>
              <a:t>4. Stability-Based Evaluation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Elbow Method (Internal Evaluation)</a:t>
            </a:r>
          </a:p>
        </p:txBody>
      </p:sp>
      <p:pic>
        <p:nvPicPr>
          <p:cNvPr id="3" name="Picture 2" descr="elb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2594" y="2246672"/>
            <a:ext cx="5958348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Silhouette Score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 Measures how similar an object is to its own cluster</a:t>
            </a:r>
          </a:p>
          <a:p>
            <a:pPr lvl="1"/>
            <a:r>
              <a:rPr sz="2000" dirty="0"/>
              <a:t> Range: -1 to +1</a:t>
            </a:r>
          </a:p>
          <a:p>
            <a:pPr lvl="1"/>
            <a:r>
              <a:rPr sz="2000" dirty="0"/>
              <a:t> Higher value indicates better clustering</a:t>
            </a:r>
          </a:p>
          <a:p>
            <a:pPr lvl="1"/>
            <a:r>
              <a:rPr sz="2000" dirty="0"/>
              <a:t> Formula considers intra-cluster and inter-cluster distance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Silhouette Score Graph</a:t>
            </a:r>
          </a:p>
        </p:txBody>
      </p:sp>
      <p:pic>
        <p:nvPicPr>
          <p:cNvPr id="3" name="Picture 2" descr="silhoue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9071" y="1740310"/>
            <a:ext cx="5653548" cy="40803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53608"/>
            <a:ext cx="6589199" cy="1280890"/>
          </a:xfrm>
        </p:spPr>
        <p:txBody>
          <a:bodyPr/>
          <a:lstStyle/>
          <a:p>
            <a:r>
              <a:rPr dirty="0"/>
              <a:t>Davies-Bouldin 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 Measures average similarity between clusters</a:t>
            </a:r>
          </a:p>
          <a:p>
            <a:pPr lvl="1"/>
            <a:r>
              <a:rPr sz="2000" dirty="0"/>
              <a:t> Lower value indicates better clustering</a:t>
            </a:r>
          </a:p>
          <a:p>
            <a:pPr lvl="1"/>
            <a:r>
              <a:rPr sz="2000" dirty="0"/>
              <a:t> Based on ratio of within-cluster scatter to between-cluster separation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Davies-Bouldin Index Graph</a:t>
            </a:r>
          </a:p>
        </p:txBody>
      </p:sp>
      <p:pic>
        <p:nvPicPr>
          <p:cNvPr id="3" name="Picture 2" descr="db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561" y="1735394"/>
            <a:ext cx="5702710" cy="42229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External 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 Used when ground truth labels are available</a:t>
            </a:r>
          </a:p>
          <a:p>
            <a:pPr lvl="1"/>
            <a:r>
              <a:rPr sz="2000" dirty="0"/>
              <a:t> Adjusted Rand Index (ARI)</a:t>
            </a:r>
          </a:p>
          <a:p>
            <a:pPr lvl="1"/>
            <a:r>
              <a:rPr sz="2000" dirty="0"/>
              <a:t> Normalized Mutual Information (NMI)</a:t>
            </a:r>
          </a:p>
          <a:p>
            <a:pPr lvl="1"/>
            <a:r>
              <a:rPr sz="2000" dirty="0"/>
              <a:t> Homogeneity &amp; Completeness Score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Evaluation in Dimensionality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 Reconstruction Error (PCA)</a:t>
            </a:r>
          </a:p>
          <a:p>
            <a:pPr lvl="1"/>
            <a:r>
              <a:rPr sz="2000" dirty="0"/>
              <a:t> Explained Variance Ratio</a:t>
            </a:r>
          </a:p>
          <a:p>
            <a:pPr lvl="1"/>
            <a:r>
              <a:rPr sz="2000" dirty="0"/>
              <a:t> Trustworthiness &amp; Continuity (t-SNE, UMAP)</a:t>
            </a:r>
          </a:p>
          <a:p>
            <a:pPr lvl="1"/>
            <a:r>
              <a:rPr sz="2000" dirty="0"/>
              <a:t> Visual inspection of embeddings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PCA Explained Variance Graph</a:t>
            </a:r>
          </a:p>
        </p:txBody>
      </p:sp>
      <p:pic>
        <p:nvPicPr>
          <p:cNvPr id="3" name="Picture 2" descr="pca_var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252" y="2030361"/>
            <a:ext cx="5791199" cy="402630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5201" y="1916867"/>
            <a:ext cx="6591985" cy="3777622"/>
          </a:xfrm>
        </p:spPr>
        <p:txBody>
          <a:bodyPr>
            <a:normAutofit/>
          </a:bodyPr>
          <a:lstStyle/>
          <a:p>
            <a:r>
              <a:rPr sz="2000" dirty="0"/>
              <a:t> Internal metrics evaluate structure without labels</a:t>
            </a:r>
          </a:p>
          <a:p>
            <a:pPr lvl="1"/>
            <a:r>
              <a:rPr sz="2000" dirty="0"/>
              <a:t> External metrics compare with true labels</a:t>
            </a:r>
          </a:p>
          <a:p>
            <a:pPr lvl="1"/>
            <a:r>
              <a:rPr sz="2000" dirty="0"/>
              <a:t> Relative metrics help choose best model</a:t>
            </a:r>
          </a:p>
          <a:p>
            <a:pPr lvl="1"/>
            <a:r>
              <a:rPr sz="2000" dirty="0"/>
              <a:t> Visualization plays key role in evaluation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</TotalTime>
  <Words>262</Words>
  <Application>Microsoft Office PowerPoint</Application>
  <PresentationFormat>On-screen Show (4:3)</PresentationFormat>
  <Paragraphs>45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3</vt:lpstr>
      <vt:lpstr>Wisp</vt:lpstr>
      <vt:lpstr>Model Evaluation Techniques in Unsupervised Learning</vt:lpstr>
      <vt:lpstr>Introduction to Unsupervised Learning</vt:lpstr>
      <vt:lpstr>Why Model Evaluation is Important?</vt:lpstr>
      <vt:lpstr>Types of Evaluation Techniques</vt:lpstr>
      <vt:lpstr>Elbow Method (Internal Evaluation)</vt:lpstr>
      <vt:lpstr>Silhouette Score</vt:lpstr>
      <vt:lpstr>Silhouette Score Graph</vt:lpstr>
      <vt:lpstr>Davies-Bouldin Index</vt:lpstr>
      <vt:lpstr>Davies-Bouldin Index Graph</vt:lpstr>
      <vt:lpstr>External Evaluation Metrics</vt:lpstr>
      <vt:lpstr>Evaluation in Dimensionality Reduction</vt:lpstr>
      <vt:lpstr>PCA Explained Variance Graph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NANDANI</dc:creator>
  <cp:keywords/>
  <dc:description>generated using python-pptx</dc:description>
  <cp:lastModifiedBy>Nandani Deraiya</cp:lastModifiedBy>
  <cp:revision>2</cp:revision>
  <dcterms:created xsi:type="dcterms:W3CDTF">2013-01-27T09:14:16Z</dcterms:created>
  <dcterms:modified xsi:type="dcterms:W3CDTF">2026-03-31T12:21:36Z</dcterms:modified>
  <cp:category/>
</cp:coreProperties>
</file>